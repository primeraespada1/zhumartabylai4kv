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1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5"/>
  </p:notesMasterIdLst>
  <p:sldIdLst>
    <p:sldId id="256" r:id="rId5"/>
    <p:sldId id="257" r:id="rId6"/>
    <p:sldId id="270" r:id="rId7"/>
    <p:sldId id="271" r:id="rId8"/>
    <p:sldId id="272" r:id="rId9"/>
    <p:sldId id="258" r:id="rId10"/>
    <p:sldId id="264" r:id="rId11"/>
    <p:sldId id="273" r:id="rId12"/>
    <p:sldId id="267" r:id="rId13"/>
    <p:sldId id="261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F36811-2E6A-4D7C-E2CA-2A5EA9A7BD69}" v="1" dt="2026-04-21T08:49:05.96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Светлый стиль 1 — акцент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microsoft.com/office/2015/10/relationships/revisionInfo" Target="revisionInfo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9C778A-3B52-400E-B8B8-FCF0BB0568DE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0CA834-C85D-4321-A26E-942F650E8C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9526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08CAD-A79B-4FF2-A2AD-8FFCB2A3D2EB}" type="datetimeFigureOut">
              <a:rPr lang="ru-RU" smtClean="0"/>
              <a:t>28.04.2026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6E53A-6968-4272-8BC2-4567D025D9B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43148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08CAD-A79B-4FF2-A2AD-8FFCB2A3D2EB}" type="datetimeFigureOut">
              <a:rPr lang="ru-RU" smtClean="0"/>
              <a:t>28.04.2026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6E53A-6968-4272-8BC2-4567D025D9B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18048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08CAD-A79B-4FF2-A2AD-8FFCB2A3D2EB}" type="datetimeFigureOut">
              <a:rPr lang="ru-RU" smtClean="0"/>
              <a:t>28.04.2026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6E53A-6968-4272-8BC2-4567D025D9B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82792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08CAD-A79B-4FF2-A2AD-8FFCB2A3D2EB}" type="datetimeFigureOut">
              <a:rPr lang="ru-RU" smtClean="0"/>
              <a:t>28.04.2026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6E53A-6968-4272-8BC2-4567D025D9B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57658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08CAD-A79B-4FF2-A2AD-8FFCB2A3D2EB}" type="datetimeFigureOut">
              <a:rPr lang="ru-RU" smtClean="0"/>
              <a:t>28.04.2026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6E53A-6968-4272-8BC2-4567D025D9B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51633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08CAD-A79B-4FF2-A2AD-8FFCB2A3D2EB}" type="datetimeFigureOut">
              <a:rPr lang="ru-RU" smtClean="0"/>
              <a:t>28.04.2026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6E53A-6968-4272-8BC2-4567D025D9B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73259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08CAD-A79B-4FF2-A2AD-8FFCB2A3D2EB}" type="datetimeFigureOut">
              <a:rPr lang="ru-RU" smtClean="0"/>
              <a:t>28.04.2026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6E53A-6968-4272-8BC2-4567D025D9B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08764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08CAD-A79B-4FF2-A2AD-8FFCB2A3D2EB}" type="datetimeFigureOut">
              <a:rPr lang="ru-RU" smtClean="0"/>
              <a:t>28.04.2026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6E53A-6968-4272-8BC2-4567D025D9B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73086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08CAD-A79B-4FF2-A2AD-8FFCB2A3D2EB}" type="datetimeFigureOut">
              <a:rPr lang="ru-RU" smtClean="0"/>
              <a:t>28.04.2026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6E53A-6968-4272-8BC2-4567D025D9B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11657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08CAD-A79B-4FF2-A2AD-8FFCB2A3D2EB}" type="datetimeFigureOut">
              <a:rPr lang="ru-RU" smtClean="0"/>
              <a:t>28.04.2026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6E53A-6968-4272-8BC2-4567D025D9B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82520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08CAD-A79B-4FF2-A2AD-8FFCB2A3D2EB}" type="datetimeFigureOut">
              <a:rPr lang="ru-RU" smtClean="0"/>
              <a:t>28.04.2026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6E53A-6968-4272-8BC2-4567D025D9B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176134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708CAD-A79B-4FF2-A2AD-8FFCB2A3D2EB}" type="datetimeFigureOut">
              <a:rPr lang="ru-RU" smtClean="0"/>
              <a:t>28.04.2026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96E53A-6968-4272-8BC2-4567D025D9B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15551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eg"/><Relationship Id="rId3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svg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5884"/>
            <a:ext cx="9144000" cy="6858000"/>
          </a:xfrm>
          <a:prstGeom prst="rect">
            <a:avLst/>
          </a:prstGeom>
        </p:spPr>
      </p:pic>
      <p:sp>
        <p:nvSpPr>
          <p:cNvPr id="6" name="Заголовок 5"/>
          <p:cNvSpPr txBox="1">
            <a:spLocks noGrp="1"/>
          </p:cNvSpPr>
          <p:nvPr>
            <p:ph type="ctrTitle"/>
          </p:nvPr>
        </p:nvSpPr>
        <p:spPr>
          <a:xfrm>
            <a:off x="234071" y="2651770"/>
            <a:ext cx="8675858" cy="86793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ru-RU" sz="2800" b="1">
                <a:solidFill>
                  <a:schemeClr val="bg1"/>
                </a:solidFill>
                <a:ea typeface="+mj-lt"/>
                <a:cs typeface="+mj-lt"/>
              </a:rPr>
              <a:t>RepairHub – компьютер жөндеу сервисі</a:t>
            </a:r>
            <a:br>
              <a:rPr lang="ru-RU" sz="2800" b="1">
                <a:solidFill>
                  <a:schemeClr val="bg1"/>
                </a:solidFill>
                <a:ea typeface="+mj-lt"/>
                <a:cs typeface="+mj-lt"/>
              </a:rPr>
            </a:br>
            <a:endParaRPr lang="ru-RU" sz="2800" b="1">
              <a:solidFill>
                <a:schemeClr val="bg1"/>
              </a:solidFill>
              <a:ea typeface="Calibri Light"/>
              <a:cs typeface="Calibri Light"/>
            </a:endParaRP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0770" y="838486"/>
            <a:ext cx="3895843" cy="883615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469697" y="3966324"/>
            <a:ext cx="6205495" cy="9233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/>
          <a:p>
            <a:pPr algn="ctr"/>
            <a:r>
              <a:rPr lang="ru-RU">
                <a:solidFill>
                  <a:schemeClr val="bg1"/>
                </a:solidFill>
                <a:latin typeface="Arial"/>
                <a:cs typeface="Arial"/>
              </a:rPr>
              <a:t>Студент Жумарт Абылай</a:t>
            </a:r>
          </a:p>
          <a:p>
            <a:pPr algn="ctr"/>
            <a:r>
              <a:rPr lang="ru-RU">
                <a:solidFill>
                  <a:schemeClr val="bg1"/>
                </a:solidFill>
                <a:latin typeface="Arial"/>
                <a:cs typeface="Arial"/>
              </a:rPr>
              <a:t>Мамандығы</a:t>
            </a:r>
            <a:r>
              <a:rPr lang="en-US">
                <a:solidFill>
                  <a:schemeClr val="bg1"/>
                </a:solidFill>
                <a:latin typeface="Arial"/>
                <a:cs typeface="Arial"/>
              </a:rPr>
              <a:t>Computer Science</a:t>
            </a:r>
            <a:r>
              <a:rPr lang="ru-RU">
                <a:solidFill>
                  <a:schemeClr val="bg1"/>
                </a:solidFill>
                <a:latin typeface="Arial"/>
                <a:cs typeface="Arial"/>
              </a:rPr>
              <a:t>/ Білім беру бағдарламасы: 6В06102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63633" y="5947505"/>
            <a:ext cx="6205495" cy="369332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ru-RU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Алматы 2026</a:t>
            </a:r>
          </a:p>
        </p:txBody>
      </p:sp>
    </p:spTree>
    <p:extLst>
      <p:ext uri="{BB962C8B-B14F-4D97-AF65-F5344CB8AC3E}">
        <p14:creationId xmlns:p14="http://schemas.microsoft.com/office/powerpoint/2010/main" val="39978401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303910" y="-61911"/>
            <a:ext cx="7886700" cy="1325563"/>
          </a:xfrm>
        </p:spPr>
        <p:txBody>
          <a:bodyPr wrap="square">
            <a:normAutofit/>
          </a:bodyPr>
          <a:lstStyle/>
          <a:p>
            <a:r>
              <a:rPr lang="ru-RU">
                <a:solidFill>
                  <a:schemeClr val="bg1"/>
                </a:solidFill>
                <a:ea typeface="+mj-lt"/>
                <a:cs typeface="+mj-lt"/>
              </a:rPr>
              <a:t>Жобаның мақсаты</a:t>
            </a:r>
            <a:endParaRPr lang="en-US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CE8847BA-C5FC-4B33-B087-1704E4167C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 wrap="square">
            <a:normAutofit/>
          </a:bodyPr>
          <a:lstStyle/>
          <a:p>
            <a:pPr>
              <a:buNone/>
            </a:pPr>
            <a:r>
              <a:rPr lang="kk-KZ">
                <a:solidFill>
                  <a:srgbClr val="000000"/>
                </a:solidFill>
                <a:ea typeface="+mn-lt"/>
                <a:cs typeface="+mn-lt"/>
              </a:rPr>
              <a:t>RepairHub жобасының мақсаты –</a:t>
            </a:r>
            <a:br>
              <a:rPr lang="kk-KZ">
                <a:solidFill>
                  <a:srgbClr val="000000"/>
                </a:solidFill>
                <a:ea typeface="+mn-lt"/>
                <a:cs typeface="+mn-lt"/>
              </a:rPr>
            </a:br>
            <a:r>
              <a:rPr lang="kk-KZ">
                <a:solidFill>
                  <a:srgbClr val="000000"/>
                </a:solidFill>
                <a:ea typeface="+mn-lt"/>
                <a:cs typeface="+mn-lt"/>
              </a:rPr>
              <a:t>компьютер жөндеу қызметін онлайн басқару.</a:t>
            </a:r>
            <a:endParaRPr lang="en-US">
              <a:ea typeface="+mn-lt"/>
              <a:cs typeface="+mn-lt"/>
            </a:endParaRPr>
          </a:p>
          <a:p>
            <a:pPr>
              <a:buNone/>
            </a:pPr>
            <a:r>
              <a:rPr lang="kk-KZ">
                <a:solidFill>
                  <a:srgbClr val="000000"/>
                </a:solidFill>
                <a:ea typeface="+mn-lt"/>
                <a:cs typeface="+mn-lt"/>
              </a:rPr>
              <a:t>Пайдаланушы:</a:t>
            </a:r>
            <a:endParaRPr lang="kk-KZ"/>
          </a:p>
          <a:p>
            <a:pPr>
              <a:buFont typeface="Arial"/>
              <a:buChar char="•"/>
            </a:pPr>
            <a:r>
              <a:rPr lang="kk-KZ">
                <a:solidFill>
                  <a:srgbClr val="000000"/>
                </a:solidFill>
                <a:ea typeface="+mn-lt"/>
                <a:cs typeface="+mn-lt"/>
              </a:rPr>
              <a:t>өтінім қалдыра алады</a:t>
            </a:r>
            <a:endParaRPr lang="kk-KZ"/>
          </a:p>
          <a:p>
            <a:pPr>
              <a:buFont typeface="Arial"/>
              <a:buChar char="•"/>
            </a:pPr>
            <a:r>
              <a:rPr lang="kk-KZ">
                <a:solidFill>
                  <a:srgbClr val="000000"/>
                </a:solidFill>
                <a:ea typeface="+mn-lt"/>
                <a:cs typeface="+mn-lt"/>
              </a:rPr>
              <a:t>профиль аша алады</a:t>
            </a:r>
            <a:endParaRPr lang="kk-KZ"/>
          </a:p>
          <a:p>
            <a:pPr>
              <a:buFont typeface="Arial"/>
              <a:buChar char="•"/>
            </a:pPr>
            <a:r>
              <a:rPr lang="kk-KZ">
                <a:solidFill>
                  <a:srgbClr val="000000"/>
                </a:solidFill>
                <a:ea typeface="+mn-lt"/>
                <a:cs typeface="+mn-lt"/>
              </a:rPr>
              <a:t>AI чат-боттан кеңес алады</a:t>
            </a:r>
            <a:endParaRPr lang="kk-KZ"/>
          </a:p>
          <a:p>
            <a:pPr marL="0" indent="0">
              <a:buNone/>
            </a:pPr>
            <a:endParaRPr lang="kk-KZ" b="1">
              <a:solidFill>
                <a:srgbClr val="000000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742073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303910" y="-61911"/>
            <a:ext cx="7886700" cy="1325563"/>
          </a:xfrm>
        </p:spPr>
        <p:txBody>
          <a:bodyPr wrap="square">
            <a:normAutofit/>
          </a:bodyPr>
          <a:lstStyle/>
          <a:p>
            <a:r>
              <a:rPr lang="ru-RU">
                <a:solidFill>
                  <a:schemeClr val="bg1"/>
                </a:solidFill>
                <a:ea typeface="+mj-lt"/>
                <a:cs typeface="+mj-lt"/>
              </a:rPr>
              <a:t>Мақсаттар мен міндеттер</a:t>
            </a:r>
            <a:r>
              <a:rPr lang="ru-RU">
                <a:solidFill>
                  <a:schemeClr val="bg1"/>
                </a:solidFill>
                <a:latin typeface="Arial"/>
                <a:cs typeface="Arial"/>
              </a:rPr>
              <a:t/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CE8847BA-C5FC-4B33-B087-1704E4167C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3884" y="1248576"/>
            <a:ext cx="7886700" cy="4351338"/>
          </a:xfrm>
        </p:spPr>
        <p:txBody>
          <a:bodyPr vert="horz" lIns="91440" tIns="45720" rIns="91440" bIns="45720" rtlCol="0" anchor="t" wrap="square">
            <a:normAutofit/>
          </a:bodyPr>
          <a:lstStyle/>
          <a:p>
            <a:pPr>
              <a:buNone/>
            </a:pPr>
            <a:r>
              <a:rPr lang="kk-KZ">
                <a:ea typeface="+mn-lt"/>
                <a:cs typeface="+mn-lt"/>
              </a:rPr>
              <a:t>Жоба міндеттері:</a:t>
            </a:r>
            <a:br>
              <a:rPr lang="kk-KZ">
                <a:ea typeface="+mn-lt"/>
                <a:cs typeface="+mn-lt"/>
              </a:rPr>
            </a:br>
            <a:r>
              <a:rPr lang="kk-KZ">
                <a:ea typeface="+mn-lt"/>
                <a:cs typeface="+mn-lt"/>
              </a:rPr>
              <a:t>Негізгі функциялар:</a:t>
            </a:r>
            <a:endParaRPr lang="en-US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kk-KZ">
                <a:ea typeface="+mn-lt"/>
                <a:cs typeface="+mn-lt"/>
              </a:rPr>
              <a:t>тіркелу және жүйеге кіру</a:t>
            </a:r>
            <a:endParaRPr lang="kk-KZ"/>
          </a:p>
          <a:p>
            <a:pPr>
              <a:buFont typeface="Arial"/>
              <a:buChar char="•"/>
            </a:pPr>
            <a:r>
              <a:rPr lang="kk-KZ">
                <a:ea typeface="+mn-lt"/>
                <a:cs typeface="+mn-lt"/>
              </a:rPr>
              <a:t>жөндеу өтінімдерін базаға сақтау</a:t>
            </a:r>
            <a:endParaRPr lang="kk-KZ"/>
          </a:p>
          <a:p>
            <a:pPr>
              <a:buFont typeface="Arial"/>
              <a:buChar char="•"/>
            </a:pPr>
            <a:r>
              <a:rPr lang="kk-KZ">
                <a:ea typeface="+mn-lt"/>
                <a:cs typeface="+mn-lt"/>
              </a:rPr>
              <a:t>UX/UI ыңғайлылығын жақсарту</a:t>
            </a:r>
            <a:endParaRPr lang="kk-KZ"/>
          </a:p>
          <a:p>
            <a:pPr marL="0" indent="0">
              <a:buNone/>
            </a:pPr>
            <a:endParaRPr lang="kk-KZ">
              <a:ea typeface="Calibri"/>
              <a:cs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AD0BC98-79F8-19C2-4F0B-796817E9E9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8660" y="3968476"/>
            <a:ext cx="6325340" cy="2893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67312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F91AB5B-0A5A-C3CE-A00E-74F8CC609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7BA19A50-4AFD-1E7E-417E-AEBEDD989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910" y="-16191"/>
            <a:ext cx="7886700" cy="1325563"/>
          </a:xfrm>
        </p:spPr>
        <p:txBody>
          <a:bodyPr wrap="square">
            <a:normAutofit/>
          </a:bodyPr>
          <a:lstStyle/>
          <a:p>
            <a:r>
              <a:rPr lang="ru-RU">
                <a:solidFill>
                  <a:schemeClr val="bg1"/>
                </a:solidFill>
                <a:ea typeface="+mj-lt"/>
                <a:cs typeface="+mj-lt"/>
              </a:rPr>
              <a:t>Деректер базасы (Database)</a:t>
            </a:r>
            <a:endParaRPr lang="en-US"/>
          </a:p>
        </p:txBody>
      </p:sp>
      <p:sp>
        <p:nvSpPr>
          <p:cNvPr id="41" name="Прямоугольник 40">
            <a:extLst>
              <a:ext uri="{FF2B5EF4-FFF2-40B4-BE49-F238E27FC236}">
                <a16:creationId xmlns:a16="http://schemas.microsoft.com/office/drawing/2014/main" id="{A34C7CA4-2023-0F43-116A-049679F9DEF7}"/>
              </a:ext>
            </a:extLst>
          </p:cNvPr>
          <p:cNvSpPr/>
          <p:nvPr/>
        </p:nvSpPr>
        <p:spPr>
          <a:xfrm>
            <a:off x="-403417" y="809696"/>
            <a:ext cx="8307430" cy="707886"/>
          </a:xfrm>
          <a:prstGeom prst="rect">
            <a:avLst/>
          </a:prstGeom>
        </p:spPr>
        <p:txBody>
          <a:bodyPr wrap="square" lIns="91440" tIns="45720" rIns="91440" bIns="45720" anchor="t">
            <a:normAutofit/>
          </a:bodyPr>
          <a:lstStyle/>
          <a:p>
            <a:pPr fontAlgn="base"/>
            <a:endParaRPr lang="en-US" sz="2000" b="1">
              <a:solidFill>
                <a:schemeClr val="accent5">
                  <a:lumMod val="75000"/>
                </a:schemeClr>
              </a:solidFill>
              <a:latin typeface="+mj-lt"/>
              <a:cs typeface="Times New Roman" panose="02020603050405020304" pitchFamily="18" charset="0"/>
            </a:endParaRPr>
          </a:p>
          <a:p>
            <a:pPr fontAlgn="base"/>
            <a:endParaRPr lang="ru-RU" sz="2000" b="1">
              <a:solidFill>
                <a:schemeClr val="accent5">
                  <a:lumMod val="75000"/>
                </a:schemeClr>
              </a:solidFill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4DA650F-A544-940D-FB22-AFCFFD26CA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78677" y="1108047"/>
            <a:ext cx="7886700" cy="4351338"/>
          </a:xfrm>
        </p:spPr>
        <p:txBody>
          <a:bodyPr vert="horz" lIns="91440" tIns="45720" rIns="91440" bIns="45720" rtlCol="0" anchor="t" wrap="square">
            <a:normAutofit/>
          </a:bodyPr>
          <a:lstStyle/>
          <a:p>
            <a:r>
              <a:rPr lang="en-US" err="1">
                <a:ea typeface="+mn-lt"/>
                <a:cs typeface="+mn-lt"/>
              </a:rPr>
              <a:t>Жобада</a:t>
            </a:r>
            <a:r>
              <a:rPr lang="en-US">
                <a:ea typeface="+mn-lt"/>
                <a:cs typeface="+mn-lt"/>
              </a:rPr>
              <a:t>ServiceRequest</a:t>
            </a:r>
            <a:r>
              <a:rPr lang="en-US" err="1">
                <a:ea typeface="+mn-lt"/>
                <a:cs typeface="+mn-lt"/>
              </a:rPr>
              <a:t>моделі</a:t>
            </a:r>
            <a:r>
              <a:rPr lang="en-US">
                <a:ea typeface="+mn-lt"/>
                <a:cs typeface="+mn-lt"/>
              </a:rPr>
              <a:t/>
            </a:r>
            <a:r>
              <a:rPr lang="en-US" err="1">
                <a:ea typeface="+mn-lt"/>
                <a:cs typeface="+mn-lt"/>
              </a:rPr>
              <a:t>жасалды</a:t>
            </a:r>
            <a:r>
              <a:rPr lang="en-US">
                <a:ea typeface="+mn-lt"/>
                <a:cs typeface="+mn-lt"/>
              </a:rPr>
              <a:t>: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r>
              <a:rPr lang="en-US">
                <a:ea typeface="+mn-lt"/>
                <a:cs typeface="+mn-lt"/>
              </a:rPr>
              <a:t>title –</a:t>
            </a:r>
            <a:r>
              <a:rPr lang="en-US" err="1">
                <a:ea typeface="+mn-lt"/>
                <a:cs typeface="+mn-lt"/>
              </a:rPr>
              <a:t>өтінім</a:t>
            </a:r>
            <a:r>
              <a:rPr lang="en-US">
                <a:ea typeface="+mn-lt"/>
                <a:cs typeface="+mn-lt"/>
              </a:rPr>
              <a:t/>
            </a:r>
            <a:r>
              <a:rPr lang="en-US" err="1">
                <a:ea typeface="+mn-lt"/>
                <a:cs typeface="+mn-lt"/>
              </a:rPr>
              <a:t>атауы</a:t>
            </a:r>
            <a:r>
              <a:rPr lang="en-US">
                <a:ea typeface="+mn-lt"/>
                <a:cs typeface="+mn-lt"/>
              </a:rPr>
              <a:t/>
            </a:r>
            <a:endParaRPr lang="en-US"/>
          </a:p>
          <a:p>
            <a:r>
              <a:rPr lang="en-US">
                <a:ea typeface="+mn-lt"/>
                <a:cs typeface="+mn-lt"/>
              </a:rPr>
              <a:t>estimated_price –</a:t>
            </a:r>
            <a:r>
              <a:rPr lang="en-US" err="1">
                <a:ea typeface="+mn-lt"/>
                <a:cs typeface="+mn-lt"/>
              </a:rPr>
              <a:t>бағасы</a:t>
            </a:r>
            <a:r>
              <a:rPr lang="en-US">
                <a:ea typeface="+mn-lt"/>
                <a:cs typeface="+mn-lt"/>
              </a:rPr>
              <a:t/>
            </a:r>
            <a:endParaRPr lang="en-US"/>
          </a:p>
          <a:p>
            <a:r>
              <a:rPr lang="en-US">
                <a:ea typeface="+mn-lt"/>
                <a:cs typeface="+mn-lt"/>
              </a:rPr>
              <a:t>status –</a:t>
            </a:r>
            <a:r>
              <a:rPr lang="en-US" err="1">
                <a:ea typeface="+mn-lt"/>
                <a:cs typeface="+mn-lt"/>
              </a:rPr>
              <a:t>мәртебесі</a:t>
            </a:r>
            <a:r>
              <a:rPr lang="en-US">
                <a:ea typeface="+mn-lt"/>
                <a:cs typeface="+mn-lt"/>
              </a:rPr>
              <a:t/>
            </a:r>
            <a:endParaRPr lang="en-US"/>
          </a:p>
          <a:p>
            <a:r>
              <a:rPr lang="en-US" err="1">
                <a:ea typeface="+mn-lt"/>
                <a:cs typeface="+mn-lt"/>
              </a:rPr>
              <a:t>Барлық</a:t>
            </a:r>
            <a:r>
              <a:rPr lang="en-US">
                <a:ea typeface="+mn-lt"/>
                <a:cs typeface="+mn-lt"/>
              </a:rPr>
              <a:t/>
            </a:r>
            <a:r>
              <a:rPr lang="en-US" err="1">
                <a:ea typeface="+mn-lt"/>
                <a:cs typeface="+mn-lt"/>
              </a:rPr>
              <a:t>деректер</a:t>
            </a:r>
            <a:r>
              <a:rPr lang="en-US">
                <a:ea typeface="+mn-lt"/>
                <a:cs typeface="+mn-lt"/>
              </a:rPr>
              <a:t/>
            </a:r>
            <a:r>
              <a:rPr lang="en-US" err="1">
                <a:ea typeface="+mn-lt"/>
                <a:cs typeface="+mn-lt"/>
              </a:rPr>
              <a:t>базаға</a:t>
            </a:r>
            <a:r>
              <a:rPr lang="en-US">
                <a:ea typeface="+mn-lt"/>
                <a:cs typeface="+mn-lt"/>
              </a:rPr>
              <a:t/>
            </a:r>
            <a:r>
              <a:rPr lang="en-US" err="1">
                <a:ea typeface="+mn-lt"/>
                <a:cs typeface="+mn-lt"/>
              </a:rPr>
              <a:t>сақталады</a:t>
            </a:r>
            <a:endParaRPr lang="en-US" err="1"/>
          </a:p>
          <a:p>
            <a:endParaRPr lang="en-US">
              <a:ea typeface="Calibri"/>
              <a:cs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A0514C4-F5CC-70DD-B3AF-D7E8966718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768" y="3675544"/>
            <a:ext cx="7357368" cy="3180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20486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FF460F5-8D4A-1246-4659-D34B56BCA8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8F2D6E85-05A7-CF47-5589-43311D03B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910" y="-16191"/>
            <a:ext cx="7886700" cy="1325563"/>
          </a:xfrm>
        </p:spPr>
        <p:txBody>
          <a:bodyPr wrap="square">
            <a:normAutofit/>
          </a:bodyPr>
          <a:lstStyle/>
          <a:p>
            <a:r>
              <a:rPr lang="ru-RU">
                <a:solidFill>
                  <a:schemeClr val="bg1"/>
                </a:solidFill>
                <a:ea typeface="+mj-lt"/>
                <a:cs typeface="+mj-lt"/>
              </a:rPr>
              <a:t>Backend жұмысы (Django)</a:t>
            </a:r>
            <a:endParaRPr lang="en-US"/>
          </a:p>
        </p:txBody>
      </p:sp>
      <p:sp>
        <p:nvSpPr>
          <p:cNvPr id="41" name="Прямоугольник 40">
            <a:extLst>
              <a:ext uri="{FF2B5EF4-FFF2-40B4-BE49-F238E27FC236}">
                <a16:creationId xmlns:a16="http://schemas.microsoft.com/office/drawing/2014/main" id="{5668695B-1BB5-2B3B-6621-1F526086EDDC}"/>
              </a:ext>
            </a:extLst>
          </p:cNvPr>
          <p:cNvSpPr/>
          <p:nvPr/>
        </p:nvSpPr>
        <p:spPr>
          <a:xfrm>
            <a:off x="-321408" y="860951"/>
            <a:ext cx="8307430" cy="707886"/>
          </a:xfrm>
          <a:prstGeom prst="rect">
            <a:avLst/>
          </a:prstGeom>
        </p:spPr>
        <p:txBody>
          <a:bodyPr wrap="square" lIns="91440" tIns="45720" rIns="91440" bIns="45720" anchor="t">
            <a:normAutofit/>
          </a:bodyPr>
          <a:lstStyle/>
          <a:p>
            <a:pPr fontAlgn="base"/>
            <a:endParaRPr lang="en-US" sz="2000" b="1">
              <a:solidFill>
                <a:schemeClr val="accent5">
                  <a:lumMod val="75000"/>
                </a:schemeClr>
              </a:solidFill>
              <a:latin typeface="+mj-lt"/>
              <a:cs typeface="Times New Roman" panose="02020603050405020304" pitchFamily="18" charset="0"/>
            </a:endParaRPr>
          </a:p>
          <a:p>
            <a:pPr fontAlgn="base"/>
            <a:endParaRPr lang="ru-RU" sz="2000" b="1">
              <a:solidFill>
                <a:schemeClr val="accent5">
                  <a:lumMod val="75000"/>
                </a:schemeClr>
              </a:solidFill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F522A8-4908-2414-709B-75C8F5B84C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32" y="1159302"/>
            <a:ext cx="7886700" cy="4351338"/>
          </a:xfrm>
        </p:spPr>
        <p:txBody>
          <a:bodyPr vert="horz" lIns="91440" tIns="45720" rIns="91440" bIns="45720" rtlCol="0" anchor="t" wrap="square">
            <a:normAutofit/>
          </a:bodyPr>
          <a:lstStyle/>
          <a:p>
            <a:r>
              <a:rPr lang="en-US">
                <a:ea typeface="+mn-lt"/>
                <a:cs typeface="+mn-lt"/>
              </a:rPr>
              <a:t>Backend</a:t>
            </a:r>
            <a:r>
              <a:rPr lang="en-US" err="1">
                <a:ea typeface="+mn-lt"/>
                <a:cs typeface="+mn-lt"/>
              </a:rPr>
              <a:t>арқылы</a:t>
            </a:r>
            <a:r>
              <a:rPr lang="en-US">
                <a:ea typeface="+mn-lt"/>
                <a:cs typeface="+mn-lt"/>
              </a:rPr>
              <a:t>: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r>
              <a:rPr lang="en-US" err="1">
                <a:ea typeface="+mn-lt"/>
                <a:cs typeface="+mn-lt"/>
              </a:rPr>
              <a:t>Өтінімдер</a:t>
            </a:r>
            <a:r>
              <a:rPr lang="en-US">
                <a:ea typeface="+mn-lt"/>
                <a:cs typeface="+mn-lt"/>
              </a:rPr>
              <a:t/>
            </a:r>
            <a:r>
              <a:rPr lang="en-US" err="1">
                <a:ea typeface="+mn-lt"/>
                <a:cs typeface="+mn-lt"/>
              </a:rPr>
              <a:t>өңделеді</a:t>
            </a:r>
            <a:r>
              <a:rPr lang="en-US">
                <a:ea typeface="+mn-lt"/>
                <a:cs typeface="+mn-lt"/>
              </a:rPr>
              <a:t/>
            </a:r>
            <a:endParaRPr lang="en-US"/>
          </a:p>
          <a:p>
            <a:r>
              <a:rPr lang="en-US" err="1">
                <a:ea typeface="+mn-lt"/>
                <a:cs typeface="+mn-lt"/>
              </a:rPr>
              <a:t>Базаға</a:t>
            </a:r>
            <a:r>
              <a:rPr lang="en-US">
                <a:ea typeface="+mn-lt"/>
                <a:cs typeface="+mn-lt"/>
              </a:rPr>
              <a:t/>
            </a:r>
            <a:r>
              <a:rPr lang="en-US" err="1">
                <a:ea typeface="+mn-lt"/>
                <a:cs typeface="+mn-lt"/>
              </a:rPr>
              <a:t>жазылады</a:t>
            </a:r>
            <a:r>
              <a:rPr lang="en-US">
                <a:ea typeface="+mn-lt"/>
                <a:cs typeface="+mn-lt"/>
              </a:rPr>
              <a:t/>
            </a:r>
            <a:endParaRPr lang="en-US"/>
          </a:p>
          <a:p>
            <a:r>
              <a:rPr lang="en-US" err="1">
                <a:ea typeface="+mn-lt"/>
                <a:cs typeface="+mn-lt"/>
              </a:rPr>
              <a:t>Сайтқа</a:t>
            </a:r>
            <a:r>
              <a:rPr lang="en-US">
                <a:ea typeface="+mn-lt"/>
                <a:cs typeface="+mn-lt"/>
              </a:rPr>
              <a:t/>
            </a:r>
            <a:r>
              <a:rPr lang="en-US" err="1">
                <a:ea typeface="+mn-lt"/>
                <a:cs typeface="+mn-lt"/>
              </a:rPr>
              <a:t>жіберіледі</a:t>
            </a:r>
            <a:r>
              <a:rPr lang="en-US">
                <a:ea typeface="+mn-lt"/>
                <a:cs typeface="+mn-lt"/>
              </a:rPr>
              <a:t/>
            </a:r>
            <a:endParaRPr lang="en-US"/>
          </a:p>
          <a:p>
            <a:r>
              <a:rPr lang="en-US">
                <a:ea typeface="+mn-lt"/>
                <a:cs typeface="+mn-lt"/>
              </a:rPr>
              <a:t>Django ORM</a:t>
            </a:r>
            <a:r>
              <a:rPr lang="en-US" err="1">
                <a:ea typeface="+mn-lt"/>
                <a:cs typeface="+mn-lt"/>
              </a:rPr>
              <a:t>қолданылды</a:t>
            </a:r>
            <a:endParaRPr lang="en-US" err="1"/>
          </a:p>
          <a:p>
            <a:endParaRPr lang="en-US">
              <a:ea typeface="Calibri"/>
              <a:cs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D750B63-9AD1-1552-FB2F-9188334D69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0172" y="1156038"/>
            <a:ext cx="4884938" cy="5045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35730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303910" y="-16191"/>
            <a:ext cx="7886700" cy="1325563"/>
          </a:xfrm>
        </p:spPr>
        <p:txBody>
          <a:bodyPr wrap="square">
            <a:normAutofit/>
          </a:bodyPr>
          <a:lstStyle/>
          <a:p>
            <a:r>
              <a:rPr lang="ru-RU" err="1">
                <a:solidFill>
                  <a:schemeClr val="bg1"/>
                </a:solidFill>
                <a:latin typeface="Arial"/>
                <a:ea typeface="+mj-lt"/>
                <a:cs typeface="Arial"/>
              </a:rPr>
              <a:t>Жоба</a:t>
            </a:r>
            <a:r>
              <a:rPr lang="ru-RU">
                <a:solidFill>
                  <a:schemeClr val="bg1"/>
                </a:solidFill>
                <a:latin typeface="Arial"/>
                <a:ea typeface="+mj-lt"/>
                <a:cs typeface="Arial"/>
              </a:rPr>
              <a:t/>
            </a:r>
            <a:r>
              <a:rPr lang="ru-RU" err="1">
                <a:solidFill>
                  <a:schemeClr val="bg1"/>
                </a:solidFill>
                <a:latin typeface="Arial"/>
                <a:ea typeface="+mj-lt"/>
                <a:cs typeface="Arial"/>
              </a:rPr>
              <a:t>тақырыбы</a:t>
            </a:r>
            <a:r>
              <a:rPr lang="ru-RU">
                <a:solidFill>
                  <a:schemeClr val="bg1"/>
                </a:solidFill>
                <a:latin typeface="Arial"/>
                <a:ea typeface="+mj-lt"/>
                <a:cs typeface="Arial"/>
              </a:rPr>
              <a:t/>
            </a:r>
            <a:r>
              <a:rPr lang="ru-RU" i="1" err="1">
                <a:solidFill>
                  <a:schemeClr val="bg1"/>
                </a:solidFill>
                <a:latin typeface="Arial"/>
                <a:ea typeface="+mj-lt"/>
                <a:cs typeface="Arial"/>
              </a:rPr>
              <a:t>бойынша</a:t>
            </a:r>
            <a:r>
              <a:rPr lang="ru-RU" i="1">
                <a:solidFill>
                  <a:schemeClr val="bg1"/>
                </a:solidFill>
                <a:latin typeface="Arial"/>
                <a:ea typeface="+mj-lt"/>
                <a:cs typeface="Arial"/>
              </a:rPr>
              <a:t/>
            </a:r>
            <a:r>
              <a:rPr lang="ru-RU" err="1">
                <a:solidFill>
                  <a:schemeClr val="bg1"/>
                </a:solidFill>
                <a:latin typeface="Arial"/>
                <a:ea typeface="+mj-lt"/>
                <a:cs typeface="Arial"/>
              </a:rPr>
              <a:t>шолу</a:t>
            </a:r>
            <a:endParaRPr lang="ru-RU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D54355C9-3C82-8D5D-D919-A049A1AF6E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3884" y="3745421"/>
            <a:ext cx="7886700" cy="4351338"/>
          </a:xfrm>
        </p:spPr>
        <p:txBody>
          <a:bodyPr vert="horz" lIns="91440" tIns="45720" rIns="91440" bIns="45720" rtlCol="0" anchor="t" wrap="square">
            <a:normAutofit/>
          </a:bodyPr>
          <a:lstStyle/>
          <a:p>
            <a:r>
              <a:rPr lang="en-US" err="1">
                <a:ea typeface="+mn-lt"/>
                <a:cs typeface="+mn-lt"/>
              </a:rPr>
              <a:t>Жобада</a:t>
            </a:r>
            <a:r>
              <a:rPr lang="en-US">
                <a:ea typeface="+mn-lt"/>
                <a:cs typeface="+mn-lt"/>
              </a:rPr>
              <a:t/>
            </a:r>
            <a:r>
              <a:rPr lang="en-US" err="1">
                <a:ea typeface="+mn-lt"/>
                <a:cs typeface="+mn-lt"/>
              </a:rPr>
              <a:t>қолданылды</a:t>
            </a:r>
            <a:r>
              <a:rPr lang="en-US">
                <a:ea typeface="+mn-lt"/>
                <a:cs typeface="+mn-lt"/>
              </a:rPr>
              <a:t>: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r>
              <a:rPr lang="en-US">
                <a:ea typeface="+mn-lt"/>
                <a:cs typeface="+mn-lt"/>
              </a:rPr>
              <a:t>Python</a:t>
            </a:r>
            <a:endParaRPr lang="en-US"/>
          </a:p>
          <a:p>
            <a:r>
              <a:rPr lang="en-US">
                <a:ea typeface="+mn-lt"/>
                <a:cs typeface="+mn-lt"/>
              </a:rPr>
              <a:t>Django framework</a:t>
            </a:r>
            <a:endParaRPr lang="en-US"/>
          </a:p>
          <a:p>
            <a:r>
              <a:rPr lang="en-US">
                <a:ea typeface="+mn-lt"/>
                <a:cs typeface="+mn-lt"/>
              </a:rPr>
              <a:t>HTML</a:t>
            </a:r>
            <a:endParaRPr lang="en-US"/>
          </a:p>
          <a:p>
            <a:r>
              <a:rPr lang="en-US">
                <a:ea typeface="+mn-lt"/>
                <a:cs typeface="+mn-lt"/>
              </a:rPr>
              <a:t>CSS</a:t>
            </a:r>
            <a:endParaRPr lang="en-US"/>
          </a:p>
          <a:p>
            <a:r>
              <a:rPr lang="en-US">
                <a:ea typeface="+mn-lt"/>
                <a:cs typeface="+mn-lt"/>
              </a:rPr>
              <a:t>Jinja</a:t>
            </a:r>
            <a:r>
              <a:rPr lang="en-US" err="1">
                <a:ea typeface="+mn-lt"/>
                <a:cs typeface="+mn-lt"/>
              </a:rPr>
              <a:t>шаблон</a:t>
            </a:r>
            <a:r>
              <a:rPr lang="en-US">
                <a:ea typeface="+mn-lt"/>
                <a:cs typeface="+mn-lt"/>
              </a:rPr>
              <a:t/>
            </a:r>
            <a:r>
              <a:rPr lang="en-US" err="1">
                <a:ea typeface="+mn-lt"/>
                <a:cs typeface="+mn-lt"/>
              </a:rPr>
              <a:t>жүйесі</a:t>
            </a:r>
            <a:endParaRPr lang="en-US" err="1"/>
          </a:p>
          <a:p>
            <a:endParaRPr lang="en-US">
              <a:ea typeface="Calibri"/>
              <a:cs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84CA7D-A1DC-32FC-22C2-4919B758FF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7634" y="1165194"/>
            <a:ext cx="2040228" cy="5692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71284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93370" y="0"/>
            <a:ext cx="7886700" cy="1325563"/>
          </a:xfrm>
        </p:spPr>
        <p:txBody>
          <a:bodyPr wrap="square">
            <a:normAutofit/>
          </a:bodyPr>
          <a:lstStyle/>
          <a:p>
            <a:r>
              <a:rPr lang="ru-RU">
                <a:solidFill>
                  <a:schemeClr val="bg1"/>
                </a:solidFill>
                <a:ea typeface="+mj-lt"/>
                <a:cs typeface="+mj-lt"/>
              </a:rPr>
              <a:t>Frontend (Jinja + HTML)</a:t>
            </a:r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7615A4A-E9B7-FDF0-BA18-5518B68637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3884" y="1104314"/>
            <a:ext cx="7886700" cy="4351338"/>
          </a:xfrm>
        </p:spPr>
        <p:txBody>
          <a:bodyPr vert="horz" lIns="91440" tIns="45720" rIns="91440" bIns="45720" rtlCol="0" anchor="t" wrap="square">
            <a:normAutofit/>
          </a:bodyPr>
          <a:lstStyle/>
          <a:p>
            <a:r>
              <a:rPr lang="en-US">
                <a:ea typeface="+mn-lt"/>
                <a:cs typeface="+mn-lt"/>
              </a:rPr>
              <a:t>Frontend</a:t>
            </a:r>
            <a:r>
              <a:rPr lang="en-US" err="1">
                <a:ea typeface="+mn-lt"/>
                <a:cs typeface="+mn-lt"/>
              </a:rPr>
              <a:t>бөлігі</a:t>
            </a:r>
            <a:r>
              <a:rPr lang="en-US">
                <a:ea typeface="+mn-lt"/>
                <a:cs typeface="+mn-lt"/>
              </a:rPr>
              <a:t>: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r>
              <a:rPr lang="en-US">
                <a:ea typeface="+mn-lt"/>
                <a:cs typeface="+mn-lt"/>
              </a:rPr>
              <a:t>HTML</a:t>
            </a:r>
            <a:r>
              <a:rPr lang="en-US" err="1">
                <a:ea typeface="+mn-lt"/>
                <a:cs typeface="+mn-lt"/>
              </a:rPr>
              <a:t>арқылы</a:t>
            </a:r>
            <a:r>
              <a:rPr lang="en-US">
                <a:ea typeface="+mn-lt"/>
                <a:cs typeface="+mn-lt"/>
              </a:rPr>
              <a:t/>
            </a:r>
            <a:r>
              <a:rPr lang="en-US" err="1">
                <a:ea typeface="+mn-lt"/>
                <a:cs typeface="+mn-lt"/>
              </a:rPr>
              <a:t>құрылды</a:t>
            </a:r>
            <a:r>
              <a:rPr lang="en-US">
                <a:ea typeface="+mn-lt"/>
                <a:cs typeface="+mn-lt"/>
              </a:rPr>
              <a:t/>
            </a:r>
            <a:endParaRPr lang="en-US"/>
          </a:p>
          <a:p>
            <a:r>
              <a:rPr lang="en-US">
                <a:ea typeface="+mn-lt"/>
                <a:cs typeface="+mn-lt"/>
              </a:rPr>
              <a:t>Jinja</a:t>
            </a:r>
            <a:r>
              <a:rPr lang="en-US" err="1">
                <a:ea typeface="+mn-lt"/>
                <a:cs typeface="+mn-lt"/>
              </a:rPr>
              <a:t>арқылы</a:t>
            </a:r>
            <a:r>
              <a:rPr lang="en-US">
                <a:ea typeface="+mn-lt"/>
                <a:cs typeface="+mn-lt"/>
              </a:rPr>
              <a:t/>
            </a:r>
            <a:r>
              <a:rPr lang="en-US" err="1">
                <a:ea typeface="+mn-lt"/>
                <a:cs typeface="+mn-lt"/>
              </a:rPr>
              <a:t>динамикалық</a:t>
            </a:r>
            <a:r>
              <a:rPr lang="en-US">
                <a:ea typeface="+mn-lt"/>
                <a:cs typeface="+mn-lt"/>
              </a:rPr>
              <a:t/>
            </a:r>
            <a:r>
              <a:rPr lang="en-US" err="1">
                <a:ea typeface="+mn-lt"/>
                <a:cs typeface="+mn-lt"/>
              </a:rPr>
              <a:t>болды</a:t>
            </a:r>
            <a:r>
              <a:rPr lang="en-US">
                <a:ea typeface="+mn-lt"/>
                <a:cs typeface="+mn-lt"/>
              </a:rPr>
              <a:t/>
            </a:r>
            <a:endParaRPr lang="en-US"/>
          </a:p>
          <a:p>
            <a:r>
              <a:rPr lang="en-US" err="1">
                <a:ea typeface="+mn-lt"/>
                <a:cs typeface="+mn-lt"/>
              </a:rPr>
              <a:t>Өтінімдер</a:t>
            </a:r>
            <a:r>
              <a:rPr lang="en-US">
                <a:ea typeface="+mn-lt"/>
                <a:cs typeface="+mn-lt"/>
              </a:rPr>
              <a:t/>
            </a:r>
            <a:r>
              <a:rPr lang="en-US" err="1">
                <a:ea typeface="+mn-lt"/>
                <a:cs typeface="+mn-lt"/>
              </a:rPr>
              <a:t>сайтта</a:t>
            </a:r>
            <a:r>
              <a:rPr lang="en-US">
                <a:ea typeface="+mn-lt"/>
                <a:cs typeface="+mn-lt"/>
              </a:rPr>
              <a:t/>
            </a:r>
            <a:r>
              <a:rPr lang="en-US" err="1">
                <a:ea typeface="+mn-lt"/>
                <a:cs typeface="+mn-lt"/>
              </a:rPr>
              <a:t>автоматты</a:t>
            </a:r>
            <a:r>
              <a:rPr lang="en-US">
                <a:ea typeface="+mn-lt"/>
                <a:cs typeface="+mn-lt"/>
              </a:rPr>
              <a:t/>
            </a:r>
            <a:r>
              <a:rPr lang="en-US" err="1">
                <a:ea typeface="+mn-lt"/>
                <a:cs typeface="+mn-lt"/>
              </a:rPr>
              <a:t>түрде</a:t>
            </a:r>
            <a:r>
              <a:rPr lang="en-US">
                <a:ea typeface="+mn-lt"/>
                <a:cs typeface="+mn-lt"/>
              </a:rPr>
              <a:t/>
            </a:r>
            <a:r>
              <a:rPr lang="en-US" err="1">
                <a:ea typeface="+mn-lt"/>
                <a:cs typeface="+mn-lt"/>
              </a:rPr>
              <a:t>шығады</a:t>
            </a:r>
            <a:endParaRPr lang="en-US" err="1"/>
          </a:p>
          <a:p>
            <a:endParaRPr lang="en-US">
              <a:ea typeface="Calibri"/>
              <a:cs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EBC719F-904C-1A58-4F65-FED05A7485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709" y="3134502"/>
            <a:ext cx="6258757" cy="3718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92520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E9B168-F02B-BACF-3A44-ECCAB3CCD2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2CDBD7-2A2A-A4F4-E859-2F4D1304F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370" y="0"/>
            <a:ext cx="7886700" cy="1325563"/>
          </a:xfrm>
        </p:spPr>
        <p:txBody>
          <a:bodyPr wrap="square">
            <a:normAutofit/>
          </a:bodyPr>
          <a:lstStyle/>
          <a:p>
            <a:r>
              <a:rPr lang="ru-RU">
                <a:solidFill>
                  <a:schemeClr val="bg1"/>
                </a:solidFill>
                <a:ea typeface="+mj-lt"/>
                <a:cs typeface="+mj-lt"/>
              </a:rPr>
              <a:t>UX/UI талдау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22FEFE-2082-CAC6-A011-E4D2CCFD5B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2327" y="1256711"/>
            <a:ext cx="7886700" cy="4351338"/>
          </a:xfrm>
        </p:spPr>
        <p:txBody>
          <a:bodyPr vert="horz" lIns="91440" tIns="45720" rIns="91440" bIns="45720" rtlCol="0" anchor="t" wrap="square">
            <a:normAutofit/>
          </a:bodyPr>
          <a:lstStyle/>
          <a:p>
            <a:r>
              <a:rPr lang="en-US" err="1">
                <a:ea typeface="+mn-lt"/>
                <a:cs typeface="+mn-lt"/>
              </a:rPr>
              <a:t>Тестілеу:</a:t>
            </a:r>
            <a:r>
              <a:rPr lang="en-US">
                <a:ea typeface="+mn-lt"/>
                <a:cs typeface="+mn-lt"/>
              </a:rPr>
              <a:t>функционалдық</a:t>
            </a:r>
            <a:r>
              <a:rPr lang="en-US" err="1">
                <a:ea typeface="+mn-lt"/>
                <a:cs typeface="+mn-lt"/>
              </a:rPr>
              <a:t>және юзабилити</a:t>
            </a:r>
            <a:r>
              <a:rPr lang="en-US">
                <a:ea typeface="+mn-lt"/>
                <a:cs typeface="+mn-lt"/>
              </a:rPr>
              <a:t/>
            </a:r>
            <a:r>
              <a:rPr lang="en-US" err="1">
                <a:ea typeface="+mn-lt"/>
                <a:cs typeface="+mn-lt"/>
              </a:rPr>
              <a:t>нәтижесі:</a:t>
            </a:r>
            <a:r>
              <a:rPr lang="en-US">
                <a:ea typeface="+mn-lt"/>
                <a:cs typeface="+mn-lt"/>
              </a:rPr>
              <a:t>форма тексерілді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r>
              <a:rPr lang="en-US" err="1">
                <a:ea typeface="+mn-lt"/>
                <a:cs typeface="+mn-lt"/>
              </a:rPr>
              <a:t/>
            </a:r>
            <a:r>
              <a:rPr lang="en-US">
                <a:ea typeface="+mn-lt"/>
                <a:cs typeface="+mn-lt"/>
              </a:rPr>
              <a:t>навигация түсінікті</a:t>
            </a:r>
            <a:r>
              <a:rPr lang="en-US" err="1">
                <a:ea typeface="+mn-lt"/>
                <a:cs typeface="+mn-lt"/>
              </a:rPr>
              <a:t/>
            </a:r>
            <a:r>
              <a:rPr lang="en-US">
                <a:ea typeface="+mn-lt"/>
                <a:cs typeface="+mn-lt"/>
              </a:rPr>
              <a:t>қателер</a:t>
            </a:r>
            <a:endParaRPr lang="en-US"/>
          </a:p>
          <a:p>
            <a:r>
              <a:rPr lang="en-US" err="1">
                <a:ea typeface="+mn-lt"/>
                <a:cs typeface="+mn-lt"/>
              </a:rPr>
              <a:t>анық</a:t>
            </a:r>
            <a:r>
              <a:rPr lang="en-US">
                <a:ea typeface="+mn-lt"/>
                <a:cs typeface="+mn-lt"/>
              </a:rPr>
              <a:t>көрсетілуі</a:t>
            </a:r>
            <a:r>
              <a:rPr lang="en-US" err="1">
                <a:ea typeface="+mn-lt"/>
                <a:cs typeface="+mn-lt"/>
              </a:rPr>
              <a:t>керек</a:t>
            </a:r>
            <a:r>
              <a:rPr lang="en-US">
                <a:ea typeface="+mn-lt"/>
                <a:cs typeface="+mn-lt"/>
              </a:rPr>
              <a:t>Dark / Light</a:t>
            </a:r>
            <a:endParaRPr lang="en-US"/>
          </a:p>
          <a:p>
            <a:r>
              <a:rPr lang="en-US">
                <a:ea typeface="+mn-lt"/>
                <a:cs typeface="+mn-lt"/>
              </a:rPr>
              <a:t>режим</a:t>
            </a:r>
            <a:r>
              <a:rPr lang="en-US" err="1">
                <a:ea typeface="+mn-lt"/>
                <a:cs typeface="+mn-lt"/>
              </a:rPr>
              <a:t>қосылды</a:t>
            </a:r>
            <a:r>
              <a:rPr lang="en-US">
                <a:ea typeface="+mn-lt"/>
                <a:cs typeface="+mn-lt"/>
              </a:rPr>
              <a:t/>
            </a:r>
            <a:endParaRPr lang="en-US"/>
          </a:p>
          <a:p>
            <a:endParaRPr lang="en-US">
              <a:ea typeface="Calibri"/>
              <a:cs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1803F9F-4E32-4E08-EDF9-5E462F29E3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5532" y="1096452"/>
            <a:ext cx="2392558" cy="5761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58638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32410" y="1"/>
            <a:ext cx="7886700" cy="1249680"/>
          </a:xfrm>
        </p:spPr>
        <p:txBody>
          <a:bodyPr wrap="square">
            <a:normAutofit/>
          </a:bodyPr>
          <a:lstStyle/>
          <a:p>
            <a:r>
              <a:rPr lang="ru-RU">
                <a:solidFill>
                  <a:schemeClr val="bg1"/>
                </a:solidFill>
                <a:ea typeface="+mj-lt"/>
                <a:cs typeface="+mj-lt"/>
              </a:rPr>
              <a:t>UX/UI жақсарту жолдары</a:t>
            </a:r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7CA244-4EB0-19F3-3594-9AAD8CD9D4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36610" y="1140591"/>
            <a:ext cx="4073283" cy="2085841"/>
          </a:xfrm>
        </p:spPr>
        <p:txBody>
          <a:bodyPr vert="horz" lIns="91440" tIns="45720" rIns="91440" bIns="45720" rtlCol="0" anchor="t" wrap="square">
            <a:normAutofit/>
          </a:bodyPr>
          <a:lstStyle/>
          <a:p>
            <a:r>
              <a:rPr lang="en-US">
                <a:ea typeface="+mn-lt"/>
                <a:cs typeface="+mn-lt"/>
              </a:rPr>
              <a:t>Inline-валидация қосу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r>
              <a:rPr lang="en-US">
                <a:ea typeface="+mn-lt"/>
                <a:cs typeface="+mn-lt"/>
              </a:rPr>
              <a:t>FAQ және подсказка қосу</a:t>
            </a:r>
            <a:endParaRPr lang="en-US"/>
          </a:p>
          <a:p>
            <a:r>
              <a:rPr lang="en-US">
                <a:ea typeface="+mn-lt"/>
                <a:cs typeface="+mn-lt"/>
              </a:rPr>
              <a:t>Қате өрісті белгілеу</a:t>
            </a:r>
            <a:endParaRPr lang="en-US"/>
          </a:p>
          <a:p>
            <a:r>
              <a:rPr lang="en-US">
                <a:ea typeface="+mn-lt"/>
                <a:cs typeface="+mn-lt"/>
              </a:rPr>
              <a:t>Минималистік дизайн сақтау</a:t>
            </a:r>
            <a:endParaRPr lang="en-US"/>
          </a:p>
          <a:p>
            <a:endParaRPr lang="en-US">
              <a:ea typeface="Calibri"/>
              <a:cs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245DD1F-286F-0F65-3AE1-B71B32F894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932" y="3422063"/>
            <a:ext cx="7102137" cy="3431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9059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93370" y="0"/>
            <a:ext cx="7886700" cy="1325563"/>
          </a:xfrm>
        </p:spPr>
        <p:txBody>
          <a:bodyPr wrap="square">
            <a:normAutofit/>
          </a:bodyPr>
          <a:lstStyle/>
          <a:p>
            <a:r>
              <a:rPr lang="ru-RU" b="1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Қортынды</a:t>
            </a:r>
            <a:r>
              <a:rPr lang="ru-RU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91CC5CC-6BF5-A414-B374-195EA508F7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3884" y="1093217"/>
            <a:ext cx="7886700" cy="4351338"/>
          </a:xfrm>
        </p:spPr>
        <p:txBody>
          <a:bodyPr vert="horz" lIns="91440" tIns="45720" rIns="91440" bIns="45720" rtlCol="0" anchor="t" wrap="square">
            <a:normAutofit/>
          </a:bodyPr>
          <a:lstStyle/>
          <a:p>
            <a:r>
              <a:rPr lang="en-US">
                <a:ea typeface="+mn-lt"/>
                <a:cs typeface="+mn-lt"/>
              </a:rPr>
              <a:t>RepairHub –</a:t>
            </a:r>
            <a:r>
              <a:rPr lang="en-US" err="1">
                <a:ea typeface="+mn-lt"/>
                <a:cs typeface="+mn-lt"/>
              </a:rPr>
              <a:t>толық</a:t>
            </a:r>
            <a:r>
              <a:rPr lang="en-US">
                <a:ea typeface="+mn-lt"/>
                <a:cs typeface="+mn-lt"/>
              </a:rPr>
              <a:t/>
            </a:r>
            <a:r>
              <a:rPr lang="en-US" err="1">
                <a:ea typeface="+mn-lt"/>
                <a:cs typeface="+mn-lt"/>
              </a:rPr>
              <a:t>веб</a:t>
            </a:r>
            <a:r>
              <a:rPr lang="en-US">
                <a:ea typeface="+mn-lt"/>
                <a:cs typeface="+mn-lt"/>
              </a:rPr>
              <a:t/>
            </a:r>
            <a:r>
              <a:rPr lang="en-US" err="1">
                <a:ea typeface="+mn-lt"/>
                <a:cs typeface="+mn-lt"/>
              </a:rPr>
              <a:t>жоба</a:t>
            </a:r>
            <a:r>
              <a:rPr lang="en-US">
                <a:ea typeface="+mn-lt"/>
                <a:cs typeface="+mn-lt"/>
              </a:rPr>
              <a:t>.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r>
              <a:rPr lang="en-US" err="1">
                <a:ea typeface="+mn-lt"/>
                <a:cs typeface="+mn-lt"/>
              </a:rPr>
              <a:t>Бұл</a:t>
            </a:r>
            <a:r>
              <a:rPr lang="en-US">
                <a:ea typeface="+mn-lt"/>
                <a:cs typeface="+mn-lt"/>
              </a:rPr>
              <a:t/>
            </a:r>
            <a:r>
              <a:rPr lang="en-US" err="1">
                <a:ea typeface="+mn-lt"/>
                <a:cs typeface="+mn-lt"/>
              </a:rPr>
              <a:t>жоба</a:t>
            </a:r>
            <a:r>
              <a:rPr lang="en-US">
                <a:ea typeface="+mn-lt"/>
                <a:cs typeface="+mn-lt"/>
              </a:rPr>
              <a:t/>
            </a:r>
            <a:r>
              <a:rPr lang="en-US" err="1">
                <a:ea typeface="+mn-lt"/>
                <a:cs typeface="+mn-lt"/>
              </a:rPr>
              <a:t>арқылы</a:t>
            </a:r>
            <a:r>
              <a:rPr lang="en-US">
                <a:ea typeface="+mn-lt"/>
                <a:cs typeface="+mn-lt"/>
              </a:rPr>
              <a:t>:</a:t>
            </a:r>
            <a:endParaRPr lang="en-US"/>
          </a:p>
          <a:p>
            <a:r>
              <a:rPr lang="en-US">
                <a:ea typeface="+mn-lt"/>
                <a:cs typeface="+mn-lt"/>
              </a:rPr>
              <a:t>Django</a:t>
            </a:r>
            <a:r>
              <a:rPr lang="en-US" err="1">
                <a:ea typeface="+mn-lt"/>
                <a:cs typeface="+mn-lt"/>
              </a:rPr>
              <a:t>үйрендік</a:t>
            </a:r>
            <a:r>
              <a:rPr lang="en-US">
                <a:ea typeface="+mn-lt"/>
                <a:cs typeface="+mn-lt"/>
              </a:rPr>
              <a:t/>
            </a:r>
            <a:endParaRPr lang="en-US"/>
          </a:p>
          <a:p>
            <a:r>
              <a:rPr lang="en-US" err="1">
                <a:ea typeface="+mn-lt"/>
                <a:cs typeface="+mn-lt"/>
              </a:rPr>
              <a:t>База</a:t>
            </a:r>
            <a:r>
              <a:rPr lang="en-US">
                <a:ea typeface="+mn-lt"/>
                <a:cs typeface="+mn-lt"/>
              </a:rPr>
              <a:t/>
            </a:r>
            <a:r>
              <a:rPr lang="en-US" err="1">
                <a:ea typeface="+mn-lt"/>
                <a:cs typeface="+mn-lt"/>
              </a:rPr>
              <a:t>мен</a:t>
            </a:r>
            <a:r>
              <a:rPr lang="en-US">
                <a:ea typeface="+mn-lt"/>
                <a:cs typeface="+mn-lt"/>
              </a:rPr>
              <a:t/>
            </a:r>
            <a:r>
              <a:rPr lang="en-US" err="1">
                <a:ea typeface="+mn-lt"/>
                <a:cs typeface="+mn-lt"/>
              </a:rPr>
              <a:t>жұмыс</a:t>
            </a:r>
            <a:r>
              <a:rPr lang="en-US">
                <a:ea typeface="+mn-lt"/>
                <a:cs typeface="+mn-lt"/>
              </a:rPr>
              <a:t/>
            </a:r>
            <a:r>
              <a:rPr lang="en-US" err="1">
                <a:ea typeface="+mn-lt"/>
                <a:cs typeface="+mn-lt"/>
              </a:rPr>
              <a:t>жасадық</a:t>
            </a:r>
            <a:r>
              <a:rPr lang="en-US">
                <a:ea typeface="+mn-lt"/>
                <a:cs typeface="+mn-lt"/>
              </a:rPr>
              <a:t/>
            </a:r>
            <a:endParaRPr lang="en-US"/>
          </a:p>
          <a:p>
            <a:r>
              <a:rPr lang="en-US">
                <a:ea typeface="+mn-lt"/>
                <a:cs typeface="+mn-lt"/>
              </a:rPr>
              <a:t>UX/UI</a:t>
            </a:r>
            <a:r>
              <a:rPr lang="en-US" err="1">
                <a:ea typeface="+mn-lt"/>
                <a:cs typeface="+mn-lt"/>
              </a:rPr>
              <a:t>түсіндік</a:t>
            </a:r>
            <a:r>
              <a:rPr lang="en-US">
                <a:ea typeface="+mn-lt"/>
                <a:cs typeface="+mn-lt"/>
              </a:rPr>
              <a:t/>
            </a:r>
            <a:endParaRPr lang="en-US"/>
          </a:p>
          <a:p>
            <a:endParaRPr lang="en-US">
              <a:ea typeface="Calibri"/>
              <a:cs typeface="Calibri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07570739-ECEE-0A91-4463-240D969B6C1F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04304" y="4718304"/>
            <a:ext cx="2057400" cy="2057400"/>
          </a:xfrm>
          <a:prstGeom prst="ellipse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E6FC3E0-F38E-E23A-E202-4DDFE2EEAE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4720" y="1199890"/>
            <a:ext cx="3312724" cy="5399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265802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3ABE975CD698949B2965909141480F1" ma:contentTypeVersion="7" ma:contentTypeDescription="Create a new document." ma:contentTypeScope="" ma:versionID="77961505ab99cb28e2c6e444e54b846e">
  <xsd:schema xmlns:xsd="http://www.w3.org/2001/XMLSchema" xmlns:xs="http://www.w3.org/2001/XMLSchema" xmlns:p="http://schemas.microsoft.com/office/2006/metadata/properties" xmlns:ns2="3b8e9cfc-981c-41b8-8493-5a478d258b10" targetNamespace="http://schemas.microsoft.com/office/2006/metadata/properties" ma:root="true" ma:fieldsID="f0524c1b8a7eb2a078cae538f1039810" ns2:_="">
    <xsd:import namespace="3b8e9cfc-981c-41b8-8493-5a478d258b1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b8e9cfc-981c-41b8-8493-5a478d258b1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B903FDA-D595-4B7E-9A26-B7AE9FB65E5B}">
  <ds:schemaRefs>
    <ds:schemaRef ds:uri="3b8e9cfc-981c-41b8-8493-5a478d258b10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E7DDB84B-519E-4A8E-B15E-7E817BC0CD17}">
  <ds:schemaRefs>
    <ds:schemaRef ds:uri="3b8e9cfc-981c-41b8-8493-5a478d258b1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77BDAB77-D3B7-431B-AF00-2AF7D187A73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On-screen Show (4:3)</PresentationFormat>
  <Slides>10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Тема Office</vt:lpstr>
      <vt:lpstr>EN Market – Онлайн дүкен </vt:lpstr>
      <vt:lpstr>Жобаның мақсаты</vt:lpstr>
      <vt:lpstr>Жоба сипаттамасы </vt:lpstr>
      <vt:lpstr>Деректер базасы (Database)</vt:lpstr>
      <vt:lpstr>Backend жұмысы (Django)</vt:lpstr>
      <vt:lpstr>Жоба тақыры бойынша шолу</vt:lpstr>
      <vt:lpstr>Frontend (Jinja + HTML)</vt:lpstr>
      <vt:lpstr>UX/UI жақсарту</vt:lpstr>
      <vt:lpstr>Жобаның артықшылықтары</vt:lpstr>
      <vt:lpstr>Қортынды 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Alisher Omar</dc:creator>
  <cp:revision>4</cp:revision>
  <dcterms:created xsi:type="dcterms:W3CDTF">2017-10-09T05:58:02Z</dcterms:created>
  <dcterms:modified xsi:type="dcterms:W3CDTF">2026-04-29T04:23:48Z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0x010100D3ABE975CD698949B2965909141480F1</vt:lpwstr>
  </property>
</Properties>
</file>